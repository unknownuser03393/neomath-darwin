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P95 ms</c:v>
                </c:pt>
              </c:strCache>
            </c:strRef>
          </c:tx>
          <c:spPr>
            <a:solidFill>
              <a:srgbClr val="186953"/>
            </a:solidFill>
          </c:spPr>
          <c:cat>
            <c:strRef>
              <c:f>Sheet1!$A$2:$A$5</c:f>
              <c:strCache>
                <c:ptCount val="4"/>
                <c:pt idx="0">
                  <c:v>单行解析</c:v>
                </c:pt>
                <c:pt idx="1">
                  <c:v>一次分析</c:v>
                </c:pt>
                <c:pt idx="2">
                  <c:v>20 行 Trace</c:v>
                </c:pt>
                <c:pt idx="3">
                  <c:v>Replay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0.0057</c:v>
                </c:pt>
                <c:pt idx="1">
                  <c:v>0.0124</c:v>
                </c:pt>
                <c:pt idx="2">
                  <c:v>0.2331</c:v>
                </c:pt>
                <c:pt idx="3">
                  <c:v>0.0736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30352"/>
            <a:ext cx="76809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E4F0EA"/>
                </a:solidFill>
                <a:latin typeface="Microsoft YaHei UI"/>
              </a:rPr>
              <a:t>阿里云·AI少年 Vibe Coding 创新挑战活动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417320"/>
            <a:ext cx="6400800" cy="8686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Georgia"/>
              </a:rPr>
              <a:t>NeoMath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331720"/>
            <a:ext cx="61264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 UI"/>
              </a:rPr>
              <a:t>数学动态调试环境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44368"/>
            <a:ext cx="65836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0">
                <a:solidFill>
                  <a:srgbClr val="A4CFBF"/>
                </a:solidFill>
                <a:latin typeface="Microsoft YaHei UI"/>
              </a:rPr>
              <a:t>The Debugger for Mathematics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069080"/>
            <a:ext cx="786384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 UI"/>
              </a:rPr>
              <a:t>把数学当作程序运行，把错误当作 Bug 调试。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979408" y="640080"/>
            <a:ext cx="2560320" cy="5440680"/>
          </a:xfrm>
          <a:prstGeom prst="rect">
            <a:avLst/>
          </a:prstGeom>
          <a:solidFill>
            <a:srgbClr val="E4F0EA"/>
          </a:solidFill>
          <a:ln w="12700">
            <a:solidFill>
              <a:srgbClr val="E4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82912" y="1234440"/>
            <a:ext cx="1325880" cy="11887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6800" b="1">
                <a:solidFill>
                  <a:srgbClr val="0B392E"/>
                </a:solidFill>
                <a:latin typeface="Georgia"/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2743200"/>
            <a:ext cx="1600200" cy="2423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B392E"/>
                </a:solidFill>
                <a:latin typeface="Microsoft YaHei UI"/>
              </a:rPr>
              <a:t>Write
Run
Break
Explain
Fix
Replay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126480"/>
            <a:ext cx="68580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4CFBF"/>
                </a:solidFill>
                <a:latin typeface="Microsoft YaHei UI"/>
              </a:rPr>
              <a:t>Windows 10 / 11 x64 · Python + C++20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274320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953"/>
                </a:solidFill>
                <a:latin typeface="Microsoft YaHei UI"/>
              </a:rPr>
              <a:t>NEOMATH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42520"/>
                </a:solidFill>
                <a:latin typeface="Microsoft YaHei UI"/>
              </a:rPr>
              <a:t>学生知道“错了”，却不知道错误如何发生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53312"/>
            <a:ext cx="11109960" cy="16459"/>
          </a:xfrm>
          <a:prstGeom prst="rect">
            <a:avLst/>
          </a:prstGeom>
          <a:solidFill>
            <a:srgbClr val="DA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F68"/>
                </a:solidFill>
                <a:latin typeface="Microsoft YaHei UI"/>
              </a:rPr>
              <a:t>创意来源与学习痛点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5F6F68"/>
                </a:solidFill>
                <a:latin typeface="Microsoft YaHei U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5166360" cy="4160520"/>
          </a:xfrm>
          <a:prstGeom prst="rect">
            <a:avLst/>
          </a:prstGeom>
          <a:solidFill>
            <a:srgbClr val="F9E5DF"/>
          </a:solidFill>
          <a:ln w="12700">
            <a:solidFill>
              <a:srgbClr val="D96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8288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D9664D"/>
                </a:solidFill>
                <a:latin typeface="Microsoft YaHei UI"/>
              </a:rPr>
              <a:t>传统反馈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526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42520"/>
                </a:solidFill>
                <a:latin typeface="Microsoft YaHei UI"/>
              </a:defRPr>
            </a:pPr>
            <a:r>
              <a:t>•  只给最终正误</a:t>
            </a:r>
          </a:p>
          <a:p>
            <a:pPr>
              <a:spcAft>
                <a:spcPts val="1000"/>
              </a:spcAft>
              <a:defRPr sz="1900">
                <a:solidFill>
                  <a:srgbClr val="142520"/>
                </a:solidFill>
                <a:latin typeface="Microsoft YaHei UI"/>
              </a:defRPr>
            </a:pPr>
            <a:r>
              <a:t>•  跳过丢根、增根、定义域变化</a:t>
            </a:r>
          </a:p>
          <a:p>
            <a:pPr>
              <a:spcAft>
                <a:spcPts val="1000"/>
              </a:spcAft>
              <a:defRPr sz="1900">
                <a:solidFill>
                  <a:srgbClr val="142520"/>
                </a:solidFill>
                <a:latin typeface="Microsoft YaHei UI"/>
              </a:defRPr>
            </a:pPr>
            <a:r>
              <a:t>•  学生只能重做，无法定位首次分叉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02352"/>
            <a:ext cx="43891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D9664D"/>
                </a:solidFill>
                <a:latin typeface="Microsoft YaHei UI"/>
              </a:rPr>
              <a:t>“第二步错了”不是证明。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691640"/>
            <a:ext cx="5440680" cy="4160520"/>
          </a:xfrm>
          <a:prstGeom prst="rect">
            <a:avLst/>
          </a:prstGeom>
          <a:solidFill>
            <a:srgbClr val="E4F0EA"/>
          </a:solidFill>
          <a:ln w="12700">
            <a:solidFill>
              <a:srgbClr val="18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93392"/>
            <a:ext cx="30175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86953"/>
                </a:solidFill>
                <a:latin typeface="Microsoft YaHei UI"/>
              </a:rPr>
              <a:t>NeoMath 的回答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606040"/>
            <a:ext cx="46177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42520"/>
                </a:solidFill>
                <a:latin typeface="Microsoft YaHei UI"/>
              </a:defRPr>
            </a:pPr>
            <a:r>
              <a:t>•  比较每一步的解集与定义域</a:t>
            </a:r>
          </a:p>
          <a:p>
            <a:pPr>
              <a:spcAft>
                <a:spcPts val="1000"/>
              </a:spcAft>
              <a:defRPr sz="1900">
                <a:solidFill>
                  <a:srgbClr val="142520"/>
                </a:solidFill>
                <a:latin typeface="Microsoft YaHei UI"/>
              </a:defRPr>
            </a:pPr>
            <a:r>
              <a:t>•  锁定第一处可证明的分叉</a:t>
            </a:r>
          </a:p>
          <a:p>
            <a:pPr>
              <a:spcAft>
                <a:spcPts val="1000"/>
              </a:spcAft>
              <a:defRPr sz="1900">
                <a:solidFill>
                  <a:srgbClr val="142520"/>
                </a:solidFill>
                <a:latin typeface="Microsoft YaHei UI"/>
              </a:defRPr>
            </a:pPr>
            <a:r>
              <a:t>•  运行一个具体检验值，让差异当场出现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5010912"/>
            <a:ext cx="46177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86953"/>
                </a:solidFill>
                <a:latin typeface="Microsoft YaHei UI"/>
              </a:rPr>
              <a:t>“代入 x = 0，上一步成立，这一步不成立。”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274320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953"/>
                </a:solidFill>
                <a:latin typeface="Microsoft YaHei UI"/>
              </a:rPr>
              <a:t>NEOMATH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42520"/>
                </a:solidFill>
                <a:latin typeface="Microsoft YaHei UI"/>
              </a:rPr>
              <a:t>NeoMath 把代数推导变成一段可调试的执行过程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53312"/>
            <a:ext cx="11109960" cy="16459"/>
          </a:xfrm>
          <a:prstGeom prst="rect">
            <a:avLst/>
          </a:prstGeom>
          <a:solidFill>
            <a:srgbClr val="DA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F68"/>
                </a:solidFill>
                <a:latin typeface="Microsoft YaHei UI"/>
              </a:rPr>
              <a:t>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5F6F68"/>
                </a:solidFill>
                <a:latin typeface="Microsoft YaHei UI"/>
              </a:rPr>
              <a:t>3</a:t>
            </a:r>
          </a:p>
        </p:txBody>
      </p:sp>
      <p:pic>
        <p:nvPicPr>
          <p:cNvPr id="7" name="Picture 6" descr="neomath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00200"/>
            <a:ext cx="7040880" cy="4400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783080"/>
            <a:ext cx="3566160" cy="11430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2520"/>
                </a:solidFill>
                <a:latin typeface="Microsoft YaHei UI"/>
              </a:rPr>
              <a:t>面向中学生的
一元代数推导调试器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3520440" cy="20116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142520"/>
                </a:solidFill>
                <a:latin typeface="Microsoft YaHei UI"/>
              </a:rPr>
              <a:t>• 逐行写推导
• C++ 精确验证
• Probe 证明差异
• 离线完整运行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623560"/>
            <a:ext cx="384048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5F6F68"/>
                </a:solidFill>
                <a:latin typeface="Microsoft YaHei UI"/>
              </a:rPr>
              <a:t>不是拍照搜题，也不是标准答案生成器。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274320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953"/>
                </a:solidFill>
                <a:latin typeface="Microsoft YaHei UI"/>
              </a:rPr>
              <a:t>NEOMATH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42520"/>
                </a:solidFill>
                <a:latin typeface="Microsoft YaHei UI"/>
              </a:rPr>
              <a:t>七个动作组成一次完整的数学调试闭环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53312"/>
            <a:ext cx="11109960" cy="16459"/>
          </a:xfrm>
          <a:prstGeom prst="rect">
            <a:avLst/>
          </a:prstGeom>
          <a:solidFill>
            <a:srgbClr val="DA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F68"/>
                </a:solidFill>
                <a:latin typeface="Microsoft YaHei UI"/>
              </a:rPr>
              <a:t>核心闭环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5F6F68"/>
                </a:solidFill>
                <a:latin typeface="Microsoft YaHei UI"/>
              </a:rPr>
              <a:t>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56232" y="3154680"/>
            <a:ext cx="365760" cy="0"/>
          </a:xfrm>
          <a:prstGeom prst="line">
            <a:avLst/>
          </a:prstGeom>
          <a:ln w="25400">
            <a:solidFill>
              <a:srgbClr val="186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56432" y="3154680"/>
            <a:ext cx="365759" cy="0"/>
          </a:xfrm>
          <a:prstGeom prst="line">
            <a:avLst/>
          </a:prstGeom>
          <a:ln w="25400">
            <a:solidFill>
              <a:srgbClr val="186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56631" y="3154680"/>
            <a:ext cx="365761" cy="0"/>
          </a:xfrm>
          <a:prstGeom prst="line">
            <a:avLst/>
          </a:prstGeom>
          <a:ln w="25400">
            <a:solidFill>
              <a:srgbClr val="186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56831" y="3154680"/>
            <a:ext cx="365761" cy="0"/>
          </a:xfrm>
          <a:prstGeom prst="line">
            <a:avLst/>
          </a:prstGeom>
          <a:ln w="25400">
            <a:solidFill>
              <a:srgbClr val="186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57031" y="3154680"/>
            <a:ext cx="365761" cy="0"/>
          </a:xfrm>
          <a:prstGeom prst="line">
            <a:avLst/>
          </a:prstGeom>
          <a:ln w="25400">
            <a:solidFill>
              <a:srgbClr val="186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57232" y="3154680"/>
            <a:ext cx="365760" cy="0"/>
          </a:xfrm>
          <a:prstGeom prst="line">
            <a:avLst/>
          </a:prstGeom>
          <a:ln w="25400">
            <a:solidFill>
              <a:srgbClr val="186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" y="2395728"/>
            <a:ext cx="1234440" cy="1554480"/>
          </a:xfrm>
          <a:prstGeom prst="roundRect">
            <a:avLst/>
          </a:prstGeom>
          <a:solidFill>
            <a:srgbClr val="E4F0EA"/>
          </a:solidFill>
          <a:ln w="12700">
            <a:solidFill>
              <a:srgbClr val="18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706624"/>
            <a:ext cx="108813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86953"/>
                </a:solidFill>
                <a:latin typeface="Microsoft YaHei UI"/>
              </a:rPr>
              <a:t>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182112"/>
            <a:ext cx="1088136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42520"/>
                </a:solidFill>
                <a:latin typeface="Microsoft YaHei UI"/>
              </a:rPr>
              <a:t>写下推导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21992" y="2395728"/>
            <a:ext cx="1234440" cy="1554480"/>
          </a:xfrm>
          <a:prstGeom prst="roundRect">
            <a:avLst/>
          </a:prstGeom>
          <a:solidFill>
            <a:srgbClr val="E4F0EA"/>
          </a:solidFill>
          <a:ln w="12700">
            <a:solidFill>
              <a:srgbClr val="18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95144" y="2706624"/>
            <a:ext cx="108813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86953"/>
                </a:solidFill>
                <a:latin typeface="Microsoft YaHei UI"/>
              </a:rPr>
              <a:t>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5144" y="3182112"/>
            <a:ext cx="1088136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42520"/>
                </a:solidFill>
                <a:latin typeface="Microsoft YaHei UI"/>
              </a:rPr>
              <a:t>补全操作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22191" y="2395728"/>
            <a:ext cx="1234440" cy="1554480"/>
          </a:xfrm>
          <a:prstGeom prst="roundRect">
            <a:avLst/>
          </a:prstGeom>
          <a:solidFill>
            <a:srgbClr val="E4F0EA"/>
          </a:solidFill>
          <a:ln w="12700">
            <a:solidFill>
              <a:srgbClr val="18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95344" y="2706624"/>
            <a:ext cx="108813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86953"/>
                </a:solidFill>
                <a:latin typeface="Microsoft YaHei UI"/>
              </a:rPr>
              <a:t>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5344" y="3182112"/>
            <a:ext cx="1088136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42520"/>
                </a:solidFill>
                <a:latin typeface="Microsoft YaHei UI"/>
              </a:rPr>
              <a:t>运行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22392" y="2395728"/>
            <a:ext cx="1234440" cy="1554480"/>
          </a:xfrm>
          <a:prstGeom prst="roundRect">
            <a:avLst/>
          </a:prstGeom>
          <a:solidFill>
            <a:srgbClr val="F9E5DF"/>
          </a:solidFill>
          <a:ln w="12700">
            <a:solidFill>
              <a:srgbClr val="D96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95544" y="2706624"/>
            <a:ext cx="108813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D9664D"/>
                </a:solidFill>
                <a:latin typeface="Microsoft YaHei UI"/>
              </a:rPr>
              <a:t>Break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95544" y="3182112"/>
            <a:ext cx="1088136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42520"/>
                </a:solidFill>
                <a:latin typeface="Microsoft YaHei UI"/>
              </a:rPr>
              <a:t>定位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22592" y="2395728"/>
            <a:ext cx="1234440" cy="1554480"/>
          </a:xfrm>
          <a:prstGeom prst="roundRect">
            <a:avLst/>
          </a:prstGeom>
          <a:solidFill>
            <a:srgbClr val="E4F0EA"/>
          </a:solidFill>
          <a:ln w="12700">
            <a:solidFill>
              <a:srgbClr val="18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95744" y="2706624"/>
            <a:ext cx="108813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86953"/>
                </a:solidFill>
                <a:latin typeface="Microsoft YaHei UI"/>
              </a:rPr>
              <a:t>Explain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4" y="3182112"/>
            <a:ext cx="1088136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42520"/>
                </a:solidFill>
                <a:latin typeface="Microsoft YaHei UI"/>
              </a:rPr>
              <a:t>解释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22792" y="2395728"/>
            <a:ext cx="1234440" cy="1554480"/>
          </a:xfrm>
          <a:prstGeom prst="roundRect">
            <a:avLst/>
          </a:prstGeom>
          <a:solidFill>
            <a:srgbClr val="E4F0EA"/>
          </a:solidFill>
          <a:ln w="12700">
            <a:solidFill>
              <a:srgbClr val="18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95944" y="2706624"/>
            <a:ext cx="108813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86953"/>
                </a:solidFill>
                <a:latin typeface="Microsoft YaHei UI"/>
              </a:rPr>
              <a:t>Fix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95944" y="3182112"/>
            <a:ext cx="1088136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42520"/>
                </a:solidFill>
                <a:latin typeface="Microsoft YaHei UI"/>
              </a:rPr>
              <a:t>修正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22992" y="2395728"/>
            <a:ext cx="1234440" cy="1554480"/>
          </a:xfrm>
          <a:prstGeom prst="roundRect">
            <a:avLst/>
          </a:prstGeom>
          <a:solidFill>
            <a:srgbClr val="E4F0EA"/>
          </a:solidFill>
          <a:ln w="12700">
            <a:solidFill>
              <a:srgbClr val="18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96144" y="2706624"/>
            <a:ext cx="108813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86953"/>
                </a:solidFill>
                <a:latin typeface="Microsoft YaHei UI"/>
              </a:rPr>
              <a:t>Replay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96144" y="3182112"/>
            <a:ext cx="1088136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42520"/>
                </a:solidFill>
                <a:latin typeface="Microsoft YaHei UI"/>
              </a:rPr>
              <a:t>重查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4892040"/>
            <a:ext cx="7955279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42520"/>
                </a:solidFill>
                <a:latin typeface="Microsoft YaHei UI"/>
              </a:rPr>
              <a:t>每次修正后重新执行；不靠猜测，靠状态比较。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274320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953"/>
                </a:solidFill>
                <a:latin typeface="Microsoft YaHei UI"/>
              </a:rPr>
              <a:t>NEOMATH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42520"/>
                </a:solidFill>
                <a:latin typeface="Microsoft YaHei UI"/>
              </a:rPr>
              <a:t>Probe 用一个具体值，把抽象错误变成可运行证据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53312"/>
            <a:ext cx="11109960" cy="16459"/>
          </a:xfrm>
          <a:prstGeom prst="rect">
            <a:avLst/>
          </a:prstGeom>
          <a:solidFill>
            <a:srgbClr val="DA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F68"/>
                </a:solidFill>
                <a:latin typeface="Microsoft YaHei UI"/>
              </a:rPr>
              <a:t>核心创新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5F6F68"/>
                </a:solidFill>
                <a:latin typeface="Microsoft YaHei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8404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42520"/>
                </a:solidFill>
                <a:latin typeface="Cambria Math"/>
              </a:rPr>
              <a:t>x(x − 1)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38404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D9664D"/>
                </a:solidFill>
                <a:latin typeface="Cambria Math"/>
              </a:rPr>
              <a:t>x − 1 = 0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664208"/>
            <a:ext cx="6355080" cy="4160520"/>
          </a:xfrm>
          <a:prstGeom prst="rect">
            <a:avLst/>
          </a:prstGeom>
          <a:solidFill>
            <a:srgbClr val="F9E5DF"/>
          </a:solidFill>
          <a:ln w="12700">
            <a:solidFill>
              <a:srgbClr val="D96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2057400"/>
            <a:ext cx="53949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D9664D"/>
                </a:solidFill>
                <a:latin typeface="Microsoft YaHei UI"/>
              </a:rPr>
              <a:t>检验值  x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926080"/>
            <a:ext cx="12344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5F6F68"/>
                </a:solidFill>
                <a:latin typeface="Microsoft YaHei UI"/>
              </a:rPr>
              <a:t>上一步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852928"/>
            <a:ext cx="3749039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86953"/>
                </a:solidFill>
                <a:latin typeface="Cambria Math"/>
              </a:rPr>
              <a:t>0(0 − 1) = 0 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877056"/>
            <a:ext cx="12344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5F6F68"/>
                </a:solidFill>
                <a:latin typeface="Microsoft YaHei UI"/>
              </a:rPr>
              <a:t>这一步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803904"/>
            <a:ext cx="3749039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D9664D"/>
                </a:solidFill>
                <a:latin typeface="Cambria Math"/>
              </a:rPr>
              <a:t>0 − 1 = 0  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4892040"/>
            <a:ext cx="52120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520"/>
                </a:solidFill>
                <a:latin typeface="Microsoft YaHei UI"/>
              </a:rPr>
              <a:t>结论：丢失了解 x = 0。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74920"/>
            <a:ext cx="3611880" cy="7132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5F6F68"/>
                </a:solidFill>
                <a:latin typeface="Microsoft YaHei UI"/>
              </a:rPr>
              <a:t>它证明发生了什么，
但不武断猜测学生执行了哪个动作。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274320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953"/>
                </a:solidFill>
                <a:latin typeface="Microsoft YaHei UI"/>
              </a:rPr>
              <a:t>NEOMATH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42520"/>
                </a:solidFill>
                <a:latin typeface="Microsoft YaHei UI"/>
              </a:rPr>
              <a:t>语义补全只推荐 C++ 能验证并签发证书的操作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53312"/>
            <a:ext cx="11109960" cy="16459"/>
          </a:xfrm>
          <a:prstGeom prst="rect">
            <a:avLst/>
          </a:prstGeom>
          <a:solidFill>
            <a:srgbClr val="DA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F68"/>
                </a:solidFill>
                <a:latin typeface="Microsoft YaHei UI"/>
              </a:rPr>
              <a:t>SEMANTIC COMPLETION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5F6F68"/>
                </a:solidFill>
                <a:latin typeface="Microsoft YaHei U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719072"/>
            <a:ext cx="3886200" cy="4160520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21408"/>
            <a:ext cx="32461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42520"/>
                </a:solidFill>
                <a:latin typeface="Cascadia Mono"/>
              </a:rPr>
              <a:t>::expr  x² − 4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980944"/>
            <a:ext cx="32461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7659A6"/>
                </a:solidFill>
                <a:latin typeface="Cascadia Mono"/>
              </a:rPr>
              <a:t>^  factor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986784"/>
            <a:ext cx="192024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5F6F68"/>
                </a:solidFill>
                <a:latin typeface="Microsoft YaHei UI"/>
              </a:rPr>
              <a:t>Ctrl +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800600"/>
            <a:ext cx="2286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6953"/>
                </a:solidFill>
                <a:latin typeface="Microsoft YaHei UI"/>
              </a:rPr>
              <a:t>风险：safe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9472" y="1719072"/>
            <a:ext cx="6492240" cy="4160520"/>
          </a:xfrm>
          <a:prstGeom prst="rect">
            <a:avLst/>
          </a:prstGeom>
          <a:solidFill>
            <a:srgbClr val="E4F0EA"/>
          </a:solidFill>
          <a:ln w="12700">
            <a:solidFill>
              <a:srgbClr val="18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5232" y="2176272"/>
            <a:ext cx="576072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42520"/>
                </a:solidFill>
                <a:latin typeface="Cambria Math"/>
              </a:rPr>
              <a:t>(x − 2)(x + 2) 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2" y="3063240"/>
            <a:ext cx="5440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2520"/>
                </a:solidFill>
                <a:latin typeface="Microsoft YaHei UI"/>
              </a:defRPr>
            </a:pPr>
            <a:r>
              <a:t>•  识别：Difference of Squares</a:t>
            </a:r>
          </a:p>
          <a:p>
            <a:pPr>
              <a:spcAft>
                <a:spcPts val="1000"/>
              </a:spcAft>
              <a:defRPr sz="1800">
                <a:solidFill>
                  <a:srgbClr val="142520"/>
                </a:solidFill>
                <a:latin typeface="Microsoft YaHei UI"/>
              </a:defRPr>
            </a:pPr>
            <a:r>
              <a:t>•  验证：展开目标 = 规范化源式</a:t>
            </a:r>
          </a:p>
          <a:p>
            <a:pPr>
              <a:spcAft>
                <a:spcPts val="1000"/>
              </a:spcAft>
              <a:defRPr sz="1800">
                <a:solidFill>
                  <a:srgbClr val="142520"/>
                </a:solidFill>
                <a:latin typeface="Microsoft YaHei UI"/>
              </a:defRPr>
            </a:pPr>
            <a:r>
              <a:t>•  证书：Verified · ExactExpansion</a:t>
            </a:r>
          </a:p>
          <a:p>
            <a:pPr>
              <a:spcAft>
                <a:spcPts val="1000"/>
              </a:spcAft>
              <a:defRPr sz="1800">
                <a:solidFill>
                  <a:srgbClr val="142520"/>
                </a:solidFill>
                <a:latin typeface="Microsoft YaHei UI"/>
              </a:defRPr>
            </a:pPr>
            <a:r>
              <a:t>•  解集保持：{−2, 2}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274320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953"/>
                </a:solidFill>
                <a:latin typeface="Microsoft YaHei UI"/>
              </a:rPr>
              <a:t>NEOMATH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42520"/>
                </a:solidFill>
                <a:latin typeface="Microsoft YaHei UI"/>
              </a:rPr>
              <a:t>数学真值集中在唯一的 C++20 MathCore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53312"/>
            <a:ext cx="11109960" cy="16459"/>
          </a:xfrm>
          <a:prstGeom prst="rect">
            <a:avLst/>
          </a:prstGeom>
          <a:solidFill>
            <a:srgbClr val="DA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F68"/>
                </a:solidFill>
                <a:latin typeface="Microsoft YaHei UI"/>
              </a:rPr>
              <a:t>C++ MATHCORE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5F6F68"/>
                </a:solidFill>
                <a:latin typeface="Microsoft YaHei U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783080"/>
            <a:ext cx="2487168" cy="4069080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84831"/>
            <a:ext cx="2084831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86953"/>
                </a:solidFill>
                <a:latin typeface="Microsoft YaHei UI"/>
              </a:rPr>
              <a:t>Syntax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43200"/>
            <a:ext cx="2084831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42520"/>
                </a:solidFill>
                <a:latin typeface="Microsoft YaHei UI"/>
              </a:defRPr>
            </a:pPr>
            <a:r>
              <a:t>•  Lexer / Parser</a:t>
            </a:r>
          </a:p>
          <a:p>
            <a:pPr>
              <a:spcAft>
                <a:spcPts val="1000"/>
              </a:spcAft>
              <a:defRPr sz="1600">
                <a:solidFill>
                  <a:srgbClr val="142520"/>
                </a:solidFill>
                <a:latin typeface="Microsoft YaHei UI"/>
              </a:defRPr>
            </a:pPr>
            <a:r>
              <a:t>•  AST / SourceSpan</a:t>
            </a:r>
          </a:p>
          <a:p>
            <a:pPr>
              <a:spcAft>
                <a:spcPts val="1000"/>
              </a:spcAft>
              <a:defRPr sz="1600">
                <a:solidFill>
                  <a:srgbClr val="142520"/>
                </a:solidFill>
                <a:latin typeface="Microsoft YaHei UI"/>
              </a:defRPr>
            </a:pPr>
            <a:r>
              <a:t>•  复杂度预算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783080"/>
            <a:ext cx="2487168" cy="4069080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084831"/>
            <a:ext cx="2084831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86953"/>
                </a:solidFill>
                <a:latin typeface="Microsoft YaHei UI"/>
              </a:rPr>
              <a:t>Algebra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743200"/>
            <a:ext cx="2084831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42520"/>
                </a:solidFill>
                <a:latin typeface="Microsoft YaHei UI"/>
              </a:defRPr>
            </a:pPr>
            <a:r>
              <a:t>•  精确 Rational</a:t>
            </a:r>
          </a:p>
          <a:p>
            <a:pPr>
              <a:spcAft>
                <a:spcPts val="1000"/>
              </a:spcAft>
              <a:defRPr sz="1600">
                <a:solidFill>
                  <a:srgbClr val="142520"/>
                </a:solidFill>
                <a:latin typeface="Microsoft YaHei UI"/>
              </a:defRPr>
            </a:pPr>
            <a:r>
              <a:t>•  Polynomial</a:t>
            </a:r>
          </a:p>
          <a:p>
            <a:pPr>
              <a:spcAft>
                <a:spcPts val="1000"/>
              </a:spcAft>
              <a:defRPr sz="1600">
                <a:solidFill>
                  <a:srgbClr val="142520"/>
                </a:solidFill>
                <a:latin typeface="Microsoft YaHei UI"/>
              </a:defRPr>
            </a:pPr>
            <a:r>
              <a:t>•  Normalizer / Solver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783080"/>
            <a:ext cx="2487168" cy="4069080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084831"/>
            <a:ext cx="2084831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86953"/>
                </a:solidFill>
                <a:latin typeface="Microsoft YaHei UI"/>
              </a:rPr>
              <a:t>Semantics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743200"/>
            <a:ext cx="2084831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42520"/>
                </a:solidFill>
                <a:latin typeface="Microsoft YaHei UI"/>
              </a:defRPr>
            </a:pPr>
            <a:r>
              <a:t>•  Domain / SolutionSet</a:t>
            </a:r>
          </a:p>
          <a:p>
            <a:pPr>
              <a:spcAft>
                <a:spcPts val="1000"/>
              </a:spcAft>
              <a:defRPr sz="1600">
                <a:solidFill>
                  <a:srgbClr val="142520"/>
                </a:solidFill>
                <a:latin typeface="Microsoft YaHei UI"/>
              </a:defRPr>
            </a:pPr>
            <a:r>
              <a:t>•  StepRelation / Probe</a:t>
            </a:r>
          </a:p>
          <a:p>
            <a:pPr>
              <a:spcAft>
                <a:spcPts val="1000"/>
              </a:spcAft>
              <a:defRPr sz="1600">
                <a:solidFill>
                  <a:srgbClr val="142520"/>
                </a:solidFill>
                <a:latin typeface="Microsoft YaHei UI"/>
              </a:defRPr>
            </a:pPr>
            <a:r>
              <a:t>•  Trace / Replay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42832" y="1783080"/>
            <a:ext cx="2487168" cy="4069080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084831"/>
            <a:ext cx="2084831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86953"/>
                </a:solidFill>
                <a:latin typeface="Microsoft YaHei UI"/>
              </a:rPr>
              <a:t>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743200"/>
            <a:ext cx="2084831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42520"/>
                </a:solidFill>
                <a:latin typeface="Microsoft YaHei UI"/>
              </a:defRPr>
            </a:pPr>
            <a:r>
              <a:t>•  Transformation</a:t>
            </a:r>
          </a:p>
          <a:p>
            <a:pPr>
              <a:spcAft>
                <a:spcPts val="1000"/>
              </a:spcAft>
              <a:defRPr sz="1600">
                <a:solidFill>
                  <a:srgbClr val="142520"/>
                </a:solidFill>
                <a:latin typeface="Microsoft YaHei UI"/>
              </a:defRPr>
            </a:pPr>
            <a:r>
              <a:t>•  Certificate</a:t>
            </a:r>
          </a:p>
          <a:p>
            <a:pPr>
              <a:spcAft>
                <a:spcPts val="1000"/>
              </a:spcAft>
              <a:defRPr sz="1600">
                <a:solidFill>
                  <a:srgbClr val="142520"/>
                </a:solidFill>
                <a:latin typeface="Microsoft YaHei UI"/>
              </a:defRPr>
            </a:pPr>
            <a:r>
              <a:t>•  结构化诊断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6062472"/>
            <a:ext cx="10104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5F6F68"/>
                </a:solidFill>
                <a:latin typeface="Microsoft YaHei UI"/>
              </a:rPr>
              <a:t>值语义优先 · 无裸拥有指针 · 精确判断不用浮点 · 超限返回 Unverified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274320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953"/>
                </a:solidFill>
                <a:latin typeface="Microsoft YaHei UI"/>
              </a:rPr>
              <a:t>NEOMATH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42520"/>
                </a:solidFill>
                <a:latin typeface="Microsoft YaHei UI"/>
              </a:rPr>
              <a:t>Python 负责产品能力，JavaScript 负责高频交互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53312"/>
            <a:ext cx="11109960" cy="16459"/>
          </a:xfrm>
          <a:prstGeom prst="rect">
            <a:avLst/>
          </a:prstGeom>
          <a:solidFill>
            <a:srgbClr val="DA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F68"/>
                </a:solidFill>
                <a:latin typeface="Microsoft YaHei UI"/>
              </a:rPr>
              <a:t>PYTHON 桌面壳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5F6F68"/>
                </a:solidFill>
                <a:latin typeface="Microsoft YaHei UI"/>
              </a:rPr>
              <a:t>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22191" y="3200400"/>
            <a:ext cx="493777" cy="0"/>
          </a:xfrm>
          <a:prstGeom prst="line">
            <a:avLst/>
          </a:prstGeom>
          <a:ln w="25400">
            <a:solidFill>
              <a:srgbClr val="5F6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62671" y="3200400"/>
            <a:ext cx="493777" cy="0"/>
          </a:xfrm>
          <a:prstGeom prst="line">
            <a:avLst/>
          </a:prstGeom>
          <a:ln w="25400">
            <a:solidFill>
              <a:srgbClr val="5F6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66928" y="1874519"/>
            <a:ext cx="32461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65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67712"/>
            <a:ext cx="2651760" cy="42062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7659A6"/>
                </a:solidFill>
                <a:latin typeface="Microsoft YaHei UI"/>
              </a:rPr>
              <a:t>Web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063240"/>
            <a:ext cx="2651760" cy="1508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42520"/>
                </a:solidFill>
                <a:latin typeface="Microsoft YaHei UI"/>
              </a:rPr>
              <a:t>编辑、KaTeX、快捷键、Undo / Redo
300 ms debounce，局部更新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874519"/>
            <a:ext cx="32461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267712"/>
            <a:ext cx="2651760" cy="42062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186953"/>
                </a:solidFill>
                <a:latin typeface="Microsoft YaHei UI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3063240"/>
            <a:ext cx="2651760" cy="1508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42520"/>
                </a:solidFill>
                <a:latin typeface="Microsoft YaHei UI"/>
              </a:rPr>
              <a:t>pywebview、生命周期、文档、自动保存
Qwen、日志、打包与提交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874519"/>
            <a:ext cx="32461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6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2267712"/>
            <a:ext cx="2651760" cy="42062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D9664D"/>
                </a:solidFill>
                <a:latin typeface="Microsoft YaHei UI"/>
              </a:rPr>
              <a:t>C++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3063240"/>
            <a:ext cx="2651760" cy="1508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42520"/>
                </a:solidFill>
                <a:latin typeface="Microsoft YaHei UI"/>
              </a:rPr>
              <a:t>完整业务操作一次跨边界
数学状态可直接 JSON 序列化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806440"/>
            <a:ext cx="822960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5F6F68"/>
                </a:solidFill>
                <a:latin typeface="Microsoft YaHei UI"/>
              </a:rPr>
              <a:t>运行时不需要 Node.js，不自带 Chromium；使用系统 WebView2。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274320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953"/>
                </a:solidFill>
                <a:latin typeface="Microsoft YaHei UI"/>
              </a:rPr>
              <a:t>NEOMATH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42520"/>
                </a:solidFill>
                <a:latin typeface="Microsoft YaHei UI"/>
              </a:rPr>
              <a:t>pybind11 边界按业务操作设计，而不是按 AST 节点设计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53312"/>
            <a:ext cx="11109960" cy="16459"/>
          </a:xfrm>
          <a:prstGeom prst="rect">
            <a:avLst/>
          </a:prstGeom>
          <a:solidFill>
            <a:srgbClr val="DA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F68"/>
                </a:solidFill>
                <a:latin typeface="Microsoft YaHei UI"/>
              </a:rPr>
              <a:t>粗粒度边界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5F6F68"/>
                </a:solidFill>
                <a:latin typeface="Microsoft YaHei U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6629400" cy="4315968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1031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86953"/>
                </a:solidFill>
                <a:latin typeface="Microsoft YaHei UI"/>
              </a:rPr>
              <a:t>公开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15184"/>
            <a:ext cx="58521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42520"/>
                </a:solidFill>
                <a:latin typeface="Cascadia Mono"/>
              </a:rPr>
              <a:t>parse_document(source)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18104"/>
            <a:ext cx="58521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42520"/>
                </a:solidFill>
                <a:latin typeface="Cascadia Mono"/>
              </a:rPr>
              <a:t>run_trace(document)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621024"/>
            <a:ext cx="58521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42520"/>
                </a:solidFill>
                <a:latin typeface="Cascadia Mono"/>
              </a:rPr>
              <a:t>replay(document, changed_step)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123944"/>
            <a:ext cx="58521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42520"/>
                </a:solidFill>
                <a:latin typeface="Cascadia Mono"/>
              </a:rPr>
              <a:t>get_completions(document, step)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626864"/>
            <a:ext cx="58521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42520"/>
                </a:solidFill>
                <a:latin typeface="Cascadia Mono"/>
              </a:rPr>
              <a:t>execute_transformation(document, step, intent)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129783"/>
            <a:ext cx="58521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42520"/>
                </a:solidFill>
                <a:latin typeface="Cascadia Mono"/>
              </a:rPr>
              <a:t>evaluate_probe(document, probe)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1737360"/>
            <a:ext cx="3886200" cy="4315968"/>
          </a:xfrm>
          <a:prstGeom prst="rect">
            <a:avLst/>
          </a:prstGeom>
          <a:solidFill>
            <a:srgbClr val="E4F0EA"/>
          </a:solidFill>
          <a:ln w="12700">
            <a:solidFill>
              <a:srgbClr val="18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2084831"/>
            <a:ext cx="3200400" cy="42062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6953"/>
                </a:solidFill>
                <a:latin typeface="Microsoft YaHei UI"/>
              </a:rPr>
              <a:t>一次调用完成一件事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2761488"/>
            <a:ext cx="3063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42520"/>
                </a:solidFill>
                <a:latin typeface="Microsoft YaHei UI"/>
              </a:defRPr>
            </a:pPr>
            <a:r>
              <a:t>•  参数在持有 GIL 时校验</a:t>
            </a:r>
          </a:p>
          <a:p>
            <a:pPr>
              <a:spcAft>
                <a:spcPts val="1000"/>
              </a:spcAft>
              <a:defRPr sz="1700">
                <a:solidFill>
                  <a:srgbClr val="142520"/>
                </a:solidFill>
                <a:latin typeface="Microsoft YaHei UI"/>
              </a:defRPr>
            </a:pPr>
            <a:r>
              <a:t>•  计算阶段释放 GIL</a:t>
            </a:r>
          </a:p>
          <a:p>
            <a:pPr>
              <a:spcAft>
                <a:spcPts val="1000"/>
              </a:spcAft>
              <a:defRPr sz="1700">
                <a:solidFill>
                  <a:srgbClr val="142520"/>
                </a:solidFill>
                <a:latin typeface="Microsoft YaHei UI"/>
              </a:defRPr>
            </a:pPr>
            <a:r>
              <a:t>•  返回前重新获取 GIL</a:t>
            </a:r>
          </a:p>
          <a:p>
            <a:pPr>
              <a:spcAft>
                <a:spcPts val="1000"/>
              </a:spcAft>
              <a:defRPr sz="1700">
                <a:solidFill>
                  <a:srgbClr val="142520"/>
                </a:solidFill>
                <a:latin typeface="Microsoft YaHei UI"/>
              </a:defRPr>
            </a:pPr>
            <a:r>
              <a:t>•  异常映射为结构化错误</a:t>
            </a:r>
          </a:p>
          <a:p>
            <a:pPr>
              <a:spcAft>
                <a:spcPts val="1000"/>
              </a:spcAft>
              <a:defRPr sz="1700">
                <a:solidFill>
                  <a:srgbClr val="142520"/>
                </a:solidFill>
                <a:latin typeface="Microsoft YaHei UI"/>
              </a:defRPr>
            </a:pPr>
            <a:r>
              <a:t>•  不暴露指针或可变 AST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274320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953"/>
                </a:solidFill>
                <a:latin typeface="Microsoft YaHei UI"/>
              </a:rPr>
              <a:t>NEOMATH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42520"/>
                </a:solidFill>
                <a:latin typeface="Microsoft YaHei UI"/>
              </a:rPr>
              <a:t>Qwen 负责理解与表达，永远不能改写数学真值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53312"/>
            <a:ext cx="11109960" cy="16459"/>
          </a:xfrm>
          <a:prstGeom prst="rect">
            <a:avLst/>
          </a:prstGeom>
          <a:solidFill>
            <a:srgbClr val="DA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F68"/>
                </a:solidFill>
                <a:latin typeface="Microsoft YaHei UI"/>
              </a:rPr>
              <a:t>AI 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5F6F68"/>
                </a:solidFill>
                <a:latin typeface="Microsoft YaHei U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074920" cy="4251960"/>
          </a:xfrm>
          <a:prstGeom prst="rect">
            <a:avLst/>
          </a:prstGeom>
          <a:solidFill>
            <a:srgbClr val="E4F0EA"/>
          </a:solidFill>
          <a:ln w="12700">
            <a:solidFill>
              <a:srgbClr val="18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84831"/>
            <a:ext cx="26517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6953"/>
                </a:solidFill>
                <a:latin typeface="Microsoft YaHei UI"/>
              </a:rPr>
              <a:t>Qwen 可以做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4251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2520"/>
                </a:solidFill>
                <a:latin typeface="Microsoft YaHei UI"/>
              </a:defRPr>
            </a:pPr>
            <a:r>
              <a:t>•  自然语言 → 白名单 Intent</a:t>
            </a:r>
          </a:p>
          <a:p>
            <a:pPr>
              <a:spcAft>
                <a:spcPts val="1000"/>
              </a:spcAft>
              <a:defRPr sz="1800">
                <a:solidFill>
                  <a:srgbClr val="142520"/>
                </a:solidFill>
                <a:latin typeface="Microsoft YaHei UI"/>
              </a:defRPr>
            </a:pPr>
            <a:r>
              <a:t>•  把结构化诊断改写成学生语言</a:t>
            </a:r>
          </a:p>
          <a:p>
            <a:pPr>
              <a:spcAft>
                <a:spcPts val="1000"/>
              </a:spcAft>
              <a:defRPr sz="1800">
                <a:solidFill>
                  <a:srgbClr val="142520"/>
                </a:solidFill>
                <a:latin typeface="Microsoft YaHei UI"/>
              </a:defRPr>
            </a:pPr>
            <a:r>
              <a:t>•  排序安全补全</a:t>
            </a:r>
          </a:p>
          <a:p>
            <a:pPr>
              <a:spcAft>
                <a:spcPts val="1000"/>
              </a:spcAft>
              <a:defRPr sz="1800">
                <a:solidFill>
                  <a:srgbClr val="142520"/>
                </a:solidFill>
                <a:latin typeface="Microsoft YaHei UI"/>
              </a:defRPr>
            </a:pPr>
            <a:r>
              <a:t>•  网络失败时自动降级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1737360"/>
            <a:ext cx="5394960" cy="4251960"/>
          </a:xfrm>
          <a:prstGeom prst="rect">
            <a:avLst/>
          </a:prstGeom>
          <a:solidFill>
            <a:srgbClr val="F9E5DF"/>
          </a:solidFill>
          <a:ln w="12700">
            <a:solidFill>
              <a:srgbClr val="D96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084831"/>
            <a:ext cx="26517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D9664D"/>
                </a:solidFill>
                <a:latin typeface="Microsoft YaHei UI"/>
              </a:rPr>
              <a:t>Qwen 不能做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743200"/>
            <a:ext cx="4343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2520"/>
                </a:solidFill>
                <a:latin typeface="Microsoft YaHei UI"/>
              </a:defRPr>
            </a:pPr>
            <a:r>
              <a:t>•  决定解集或定义域</a:t>
            </a:r>
          </a:p>
          <a:p>
            <a:pPr>
              <a:spcAft>
                <a:spcPts val="1000"/>
              </a:spcAft>
              <a:defRPr sz="1800">
                <a:solidFill>
                  <a:srgbClr val="142520"/>
                </a:solidFill>
                <a:latin typeface="Microsoft YaHei UI"/>
              </a:defRPr>
            </a:pPr>
            <a:r>
              <a:t>•  直接修改 MathState</a:t>
            </a:r>
          </a:p>
          <a:p>
            <a:pPr>
              <a:spcAft>
                <a:spcPts val="1000"/>
              </a:spcAft>
              <a:defRPr sz="1800">
                <a:solidFill>
                  <a:srgbClr val="142520"/>
                </a:solidFill>
                <a:latin typeface="Microsoft YaHei UI"/>
              </a:defRPr>
            </a:pPr>
            <a:r>
              <a:t>•  绕过 C++ Transformation Executor</a:t>
            </a:r>
          </a:p>
          <a:p>
            <a:pPr>
              <a:spcAft>
                <a:spcPts val="1000"/>
              </a:spcAft>
              <a:defRPr sz="1800">
                <a:solidFill>
                  <a:srgbClr val="142520"/>
                </a:solidFill>
                <a:latin typeface="Microsoft YaHei UI"/>
              </a:defRPr>
            </a:pPr>
            <a:r>
              <a:t>•  把未验证内容说成已证明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6080760"/>
            <a:ext cx="84582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5F6F68"/>
                </a:solidFill>
                <a:latin typeface="Microsoft YaHei UI"/>
              </a:rPr>
              <a:t>Candidate → Schema → Allowlist → C++ Executor → Certificate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274320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953"/>
                </a:solidFill>
                <a:latin typeface="Microsoft YaHei UI"/>
              </a:rPr>
              <a:t>NEOMATH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42520"/>
                </a:solidFill>
                <a:latin typeface="Microsoft YaHei UI"/>
              </a:rPr>
              <a:t>可信边界由“候选生成后回代原式”守住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53312"/>
            <a:ext cx="11109960" cy="16459"/>
          </a:xfrm>
          <a:prstGeom prst="rect">
            <a:avLst/>
          </a:prstGeom>
          <a:solidFill>
            <a:srgbClr val="DA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F68"/>
                </a:solidFill>
                <a:latin typeface="Microsoft YaHei UI"/>
              </a:rPr>
              <a:t>数学可信模型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5F6F68"/>
                </a:solidFill>
                <a:latin typeface="Microsoft YaHei U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901952"/>
            <a:ext cx="1993392" cy="1901952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084831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D9664D"/>
                </a:solidFill>
                <a:latin typeface="Microsoft YaHei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60904"/>
            <a:ext cx="162763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6953"/>
                </a:solidFill>
                <a:latin typeface="Microsoft YaHei UI"/>
              </a:rPr>
              <a:t>Normalize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182112"/>
            <a:ext cx="1627632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F6F68"/>
                </a:solidFill>
                <a:latin typeface="Microsoft YaHei UI"/>
              </a:rPr>
              <a:t>规范化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901952"/>
            <a:ext cx="1993392" cy="1901952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084831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D9664D"/>
                </a:solidFill>
                <a:latin typeface="Microsoft YaHei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660904"/>
            <a:ext cx="162763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6953"/>
                </a:solidFill>
                <a:latin typeface="Microsoft YaHei UI"/>
              </a:rPr>
              <a:t>Candidates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182112"/>
            <a:ext cx="1627632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F6F68"/>
                </a:solidFill>
                <a:latin typeface="Microsoft YaHei UI"/>
              </a:rPr>
              <a:t>生成候选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38928" y="1901952"/>
            <a:ext cx="1993392" cy="1901952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084831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D9664D"/>
                </a:solidFill>
                <a:latin typeface="Microsoft YaHei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2660904"/>
            <a:ext cx="162763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6953"/>
                </a:solidFill>
                <a:latin typeface="Microsoft YaHei UI"/>
              </a:rPr>
              <a:t>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3182112"/>
            <a:ext cx="1627632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F6F68"/>
                </a:solidFill>
                <a:latin typeface="Microsoft YaHei UI"/>
              </a:rPr>
              <a:t>检查定义域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43216" y="1901952"/>
            <a:ext cx="1993392" cy="1901952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7808" y="2084831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D9664D"/>
                </a:solidFill>
                <a:latin typeface="Microsoft YaHei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2660904"/>
            <a:ext cx="162763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6953"/>
                </a:solidFill>
                <a:latin typeface="Microsoft YaHei UI"/>
              </a:rPr>
              <a:t>Substitute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3182112"/>
            <a:ext cx="1627632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F6F68"/>
                </a:solidFill>
                <a:latin typeface="Microsoft YaHei UI"/>
              </a:rPr>
              <a:t>回代原式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47504" y="1901952"/>
            <a:ext cx="1993392" cy="1901952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2096" y="2084831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D9664D"/>
                </a:solidFill>
                <a:latin typeface="Microsoft YaHei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0384" y="2660904"/>
            <a:ext cx="162763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6953"/>
                </a:solidFill>
                <a:latin typeface="Microsoft YaHei UI"/>
              </a:rPr>
              <a:t>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0384" y="3182112"/>
            <a:ext cx="1627632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F6F68"/>
                </a:solidFill>
                <a:latin typeface="Microsoft YaHei UI"/>
              </a:rPr>
              <a:t>只接受已验证解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4315968"/>
            <a:ext cx="10012680" cy="1170432"/>
          </a:xfrm>
          <a:prstGeom prst="rect">
            <a:avLst/>
          </a:prstGeom>
          <a:solidFill>
            <a:srgbClr val="F9E5DF"/>
          </a:solidFill>
          <a:ln w="12700">
            <a:solidFill>
              <a:srgbClr val="D96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9888" y="4645152"/>
            <a:ext cx="94183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142520"/>
                </a:solidFill>
                <a:latin typeface="Cambria Math"/>
              </a:rPr>
              <a:t>sqrt(x) = x − 2  →  候选 {1, 4}  →  回代淘汰 1  →  最终 {4}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870448"/>
            <a:ext cx="81381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5F6F68"/>
                </a:solidFill>
                <a:latin typeface="Microsoft YaHei UI"/>
              </a:rPr>
              <a:t>Verified / Unverified / Unsupported 明确分开；无法证明时不猜。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274320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953"/>
                </a:solidFill>
                <a:latin typeface="Microsoft YaHei UI"/>
              </a:rPr>
              <a:t>NEOMATH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42520"/>
                </a:solidFill>
                <a:latin typeface="Microsoft YaHei UI"/>
              </a:rPr>
              <a:t>四个离线 Demo 覆盖丢根、增根、定义域与安全补全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53312"/>
            <a:ext cx="11109960" cy="16459"/>
          </a:xfrm>
          <a:prstGeom prst="rect">
            <a:avLst/>
          </a:prstGeom>
          <a:solidFill>
            <a:srgbClr val="DA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F68"/>
                </a:solidFill>
                <a:latin typeface="Microsoft YaHei UI"/>
              </a:rPr>
              <a:t>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5F6F68"/>
                </a:solidFill>
                <a:latin typeface="Microsoft YaHei U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700784"/>
            <a:ext cx="5166360" cy="1847088"/>
          </a:xfrm>
          <a:prstGeom prst="rect">
            <a:avLst/>
          </a:prstGeom>
          <a:solidFill>
            <a:srgbClr val="F9E5DF"/>
          </a:solidFill>
          <a:ln w="12700">
            <a:solidFill>
              <a:srgbClr val="D96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01952"/>
            <a:ext cx="566928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D9664D"/>
                </a:solidFill>
                <a:latin typeface="Microsoft YaHei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1883664"/>
            <a:ext cx="22860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D9664D"/>
                </a:solidFill>
                <a:latin typeface="Microsoft YaHei UI"/>
              </a:rPr>
              <a:t>丢根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505456"/>
            <a:ext cx="4526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520"/>
                </a:solidFill>
                <a:latin typeface="Cambria Math"/>
              </a:rPr>
              <a:t>x(x−1)=0 → x−1=0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026664"/>
            <a:ext cx="45262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F6F68"/>
                </a:solidFill>
                <a:latin typeface="Microsoft YaHei UI"/>
              </a:rPr>
              <a:t>Probe x=0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1700784"/>
            <a:ext cx="5166360" cy="1847088"/>
          </a:xfrm>
          <a:prstGeom prst="rect">
            <a:avLst/>
          </a:prstGeom>
          <a:solidFill>
            <a:srgbClr val="FBF0D6"/>
          </a:solidFill>
          <a:ln w="12700">
            <a:solidFill>
              <a:srgbClr val="D99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901952"/>
            <a:ext cx="566928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D99A27"/>
                </a:solidFill>
                <a:latin typeface="Microsoft YaHei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95744" y="1883664"/>
            <a:ext cx="22860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D99A27"/>
                </a:solidFill>
                <a:latin typeface="Microsoft YaHei UI"/>
              </a:rPr>
              <a:t>平方增根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505456"/>
            <a:ext cx="4526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520"/>
                </a:solidFill>
                <a:latin typeface="Cambria Math"/>
              </a:rPr>
              <a:t>sqrt(x)=x−2 → 平方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3026664"/>
            <a:ext cx="45262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F6F68"/>
                </a:solidFill>
                <a:latin typeface="Microsoft YaHei UI"/>
              </a:rPr>
              <a:t>Probe x=1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858768"/>
            <a:ext cx="5166360" cy="1847088"/>
          </a:xfrm>
          <a:prstGeom prst="rect">
            <a:avLst/>
          </a:prstGeom>
          <a:solidFill>
            <a:srgbClr val="EEE7F7"/>
          </a:solidFill>
          <a:ln w="12700">
            <a:solidFill>
              <a:srgbClr val="765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059935"/>
            <a:ext cx="566928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7659A6"/>
                </a:solidFill>
                <a:latin typeface="Microsoft YaHei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041648"/>
            <a:ext cx="22860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7659A6"/>
                </a:solidFill>
                <a:latin typeface="Microsoft YaHei UI"/>
              </a:rPr>
              <a:t>定义域扩大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663440"/>
            <a:ext cx="4526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520"/>
                </a:solidFill>
                <a:latin typeface="Cambria Math"/>
              </a:rPr>
              <a:t>(x−1)/(x−1)=1 → 1=1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5184648"/>
            <a:ext cx="45262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F6F68"/>
                </a:solidFill>
                <a:latin typeface="Microsoft YaHei UI"/>
              </a:rPr>
              <a:t>Probe x=1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3858768"/>
            <a:ext cx="5166360" cy="1847088"/>
          </a:xfrm>
          <a:prstGeom prst="rect">
            <a:avLst/>
          </a:prstGeom>
          <a:solidFill>
            <a:srgbClr val="E4F0EA"/>
          </a:solidFill>
          <a:ln w="12700">
            <a:solidFill>
              <a:srgbClr val="18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4059935"/>
            <a:ext cx="566928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6953"/>
                </a:solidFill>
                <a:latin typeface="Microsoft YaHei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95744" y="4041648"/>
            <a:ext cx="22860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86953"/>
                </a:solidFill>
                <a:latin typeface="Microsoft YaHei UI"/>
              </a:rPr>
              <a:t>语义补全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4663440"/>
            <a:ext cx="4526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520"/>
                </a:solidFill>
                <a:latin typeface="Cambria Math"/>
              </a:rPr>
              <a:t>x²−4 → (x−2)(x+2)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5184648"/>
            <a:ext cx="45262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F6F68"/>
                </a:solidFill>
                <a:latin typeface="Microsoft YaHei UI"/>
              </a:rPr>
              <a:t>Verified Certificate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274320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953"/>
                </a:solidFill>
                <a:latin typeface="Microsoft YaHei UI"/>
              </a:rPr>
              <a:t>NEOMATH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42520"/>
                </a:solidFill>
                <a:latin typeface="Microsoft YaHei UI"/>
              </a:rPr>
              <a:t>实测 P95 全部低于首版交互目标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53312"/>
            <a:ext cx="11109960" cy="16459"/>
          </a:xfrm>
          <a:prstGeom prst="rect">
            <a:avLst/>
          </a:prstGeom>
          <a:solidFill>
            <a:srgbClr val="DA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F68"/>
                </a:solidFill>
                <a:latin typeface="Microsoft YaHei UI"/>
              </a:rPr>
              <a:t>性能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5F6F68"/>
                </a:solidFill>
                <a:latin typeface="Microsoft YaHei UI"/>
              </a:rPr>
              <a:t>13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755648"/>
          <a:ext cx="67208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54112" y="1828800"/>
            <a:ext cx="3520440" cy="1234440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18704" y="1975104"/>
            <a:ext cx="3191256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86953"/>
                </a:solidFill>
                <a:latin typeface="Microsoft YaHei UI"/>
              </a:rPr>
              <a:t>0.0057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18704" y="2542032"/>
            <a:ext cx="3191256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F6F68"/>
                </a:solidFill>
                <a:latin typeface="Microsoft YaHei UI"/>
              </a:rPr>
              <a:t>单行解析 P95 / 目标 &lt; 2 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54112" y="3355848"/>
            <a:ext cx="3520440" cy="1234440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18704" y="3502152"/>
            <a:ext cx="3191256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7659A6"/>
                </a:solidFill>
                <a:latin typeface="Microsoft YaHei UI"/>
              </a:rPr>
              <a:t>0.2331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8704" y="4069080"/>
            <a:ext cx="3191256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F6F68"/>
                </a:solidFill>
                <a:latin typeface="Microsoft YaHei UI"/>
              </a:rPr>
              <a:t>20 行 Trace P95 / 目标 &lt; 100 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54112" y="4882896"/>
            <a:ext cx="3520440" cy="1234440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18704" y="5029200"/>
            <a:ext cx="3191256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D9664D"/>
                </a:solidFill>
                <a:latin typeface="Microsoft YaHei UI"/>
              </a:rPr>
              <a:t>13.6%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8704" y="5596128"/>
            <a:ext cx="3191256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F6F68"/>
                </a:solidFill>
                <a:latin typeface="Microsoft YaHei UI"/>
              </a:rPr>
              <a:t>估算 pybind 边界占比 / 目标 &lt; 20%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274320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953"/>
                </a:solidFill>
                <a:latin typeface="Microsoft YaHei UI"/>
              </a:rPr>
              <a:t>NEOMATH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42520"/>
                </a:solidFill>
                <a:latin typeface="Microsoft YaHei UI"/>
              </a:rPr>
              <a:t>独立 Oracle 与分层测试共同约束数学正确性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53312"/>
            <a:ext cx="11109960" cy="16459"/>
          </a:xfrm>
          <a:prstGeom prst="rect">
            <a:avLst/>
          </a:prstGeom>
          <a:solidFill>
            <a:srgbClr val="DA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F68"/>
                </a:solidFill>
                <a:latin typeface="Microsoft YaHei UI"/>
              </a:rPr>
              <a:t>测试与验证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5F6F68"/>
                </a:solidFill>
                <a:latin typeface="Microsoft YaHei U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2423160" cy="1234440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29384"/>
            <a:ext cx="2093976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86953"/>
                </a:solidFill>
                <a:latin typeface="Microsoft YaHei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96312"/>
            <a:ext cx="2093976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F6F68"/>
                </a:solidFill>
                <a:latin typeface="Microsoft YaHei UI"/>
              </a:rPr>
              <a:t>C++ Catch2 测试用例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783080"/>
            <a:ext cx="2423160" cy="1234440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929384"/>
            <a:ext cx="2093976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7659A6"/>
                </a:solidFill>
                <a:latin typeface="Microsoft YaHei UI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96312"/>
            <a:ext cx="2093976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F6F68"/>
                </a:solidFill>
                <a:latin typeface="Microsoft YaHei UI"/>
              </a:rPr>
              <a:t>Python / Integration / Golden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34456" y="1783080"/>
            <a:ext cx="2423160" cy="1234440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1929384"/>
            <a:ext cx="2093976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D9664D"/>
                </a:solidFill>
                <a:latin typeface="Microsoft YaHei UI"/>
              </a:rPr>
              <a:t>10,000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2496312"/>
            <a:ext cx="2093976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F6F68"/>
                </a:solidFill>
                <a:latin typeface="Microsoft YaHei UI"/>
              </a:rPr>
              <a:t>固定 Seed 差分案例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783080"/>
            <a:ext cx="2423160" cy="1234440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929384"/>
            <a:ext cx="2093976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D99A27"/>
                </a:solidFill>
                <a:latin typeface="Microsoft YaHei U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3376" y="2496312"/>
            <a:ext cx="2093976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F6F68"/>
                </a:solidFill>
                <a:latin typeface="Microsoft YaHei UI"/>
              </a:rPr>
              <a:t>当前差异数量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429000"/>
            <a:ext cx="10287000" cy="2057400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730752"/>
            <a:ext cx="9646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42520"/>
                </a:solidFill>
                <a:latin typeface="Microsoft YaHei UI"/>
              </a:defRPr>
            </a:pPr>
            <a:r>
              <a:t>•  C++：Rational、Parser、Polynomial、Solver、Trace、Transformation</a:t>
            </a:r>
          </a:p>
          <a:p>
            <a:pPr>
              <a:spcAft>
                <a:spcPts val="1000"/>
              </a:spcAft>
              <a:defRPr sz="1600">
                <a:solidFill>
                  <a:srgbClr val="142520"/>
                </a:solidFill>
                <a:latin typeface="Microsoft YaHei UI"/>
              </a:defRPr>
            </a:pPr>
            <a:r>
              <a:t>•  Python：粗粒度 API、四个 Demo、文档、AI 白名单、打包检查</a:t>
            </a:r>
          </a:p>
          <a:p>
            <a:pPr>
              <a:spcAft>
                <a:spcPts val="1000"/>
              </a:spcAft>
              <a:defRPr sz="1600">
                <a:solidFill>
                  <a:srgbClr val="142520"/>
                </a:solidFill>
                <a:latin typeface="Microsoft YaHei UI"/>
              </a:defRPr>
            </a:pPr>
            <a:r>
              <a:t>•  SymPy Oracle 接收结构化 AST，不重新解析 UI 字符串</a:t>
            </a:r>
          </a:p>
          <a:p>
            <a:pPr>
              <a:spcAft>
                <a:spcPts val="1000"/>
              </a:spcAft>
              <a:defRPr sz="1600">
                <a:solidFill>
                  <a:srgbClr val="142520"/>
                </a:solidFill>
                <a:latin typeface="Microsoft YaHei UI"/>
              </a:defRPr>
            </a:pPr>
            <a:r>
              <a:t>•  随机系数范围 −10…10，Seed 20260724；差异会输出最小失败输入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5897880"/>
            <a:ext cx="768096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5F6F68"/>
                </a:solidFill>
                <a:latin typeface="Microsoft YaHei UI"/>
              </a:rPr>
              <a:t>不伪造通过：所有数字来自本机实际执行报告。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274320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953"/>
                </a:solidFill>
                <a:latin typeface="Microsoft YaHei UI"/>
              </a:rPr>
              <a:t>NEOMATH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42520"/>
                </a:solidFill>
                <a:latin typeface="Microsoft YaHei UI"/>
              </a:rPr>
              <a:t>先交付可信的一元代数闭环，再扩展表达能力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53312"/>
            <a:ext cx="11109960" cy="16459"/>
          </a:xfrm>
          <a:prstGeom prst="rect">
            <a:avLst/>
          </a:prstGeom>
          <a:solidFill>
            <a:srgbClr val="DA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5F6F68"/>
                </a:solidFill>
                <a:latin typeface="Microsoft YaHei UI"/>
              </a:rPr>
              <a:t>未来规划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5F6F68"/>
                </a:solidFill>
                <a:latin typeface="Microsoft YaHei U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2487168" cy="3520440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84831"/>
            <a:ext cx="2084831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D9664D"/>
                </a:solidFill>
                <a:latin typeface="Microsoft YaHei UI"/>
              </a:rPr>
              <a:t>现在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670048"/>
            <a:ext cx="2084831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86953"/>
                </a:solidFill>
                <a:latin typeface="Microsoft YaHei UI"/>
              </a:rPr>
              <a:t>一元实数代数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675887"/>
            <a:ext cx="2084831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142520"/>
                </a:solidFill>
                <a:latin typeface="Microsoft YaHei UI"/>
              </a:rPr>
              <a:t>丢根 / 增根 / 定义域
可解释 Probe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828800"/>
            <a:ext cx="2487168" cy="3520440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2084831"/>
            <a:ext cx="2084831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D9664D"/>
                </a:solidFill>
                <a:latin typeface="Microsoft YaHei UI"/>
              </a:rPr>
              <a:t>下一步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670048"/>
            <a:ext cx="2084831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86953"/>
                </a:solidFill>
                <a:latin typeface="Microsoft YaHei UI"/>
              </a:rPr>
              <a:t>更强精确数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675887"/>
            <a:ext cx="2084831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142520"/>
                </a:solidFill>
                <a:latin typeface="Microsoft YaHei UI"/>
              </a:rPr>
              <a:t>BigInt / 代数数
更多可验证根式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2487168" cy="3520440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84831"/>
            <a:ext cx="2084831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D9664D"/>
                </a:solidFill>
                <a:latin typeface="Microsoft YaHei UI"/>
              </a:rPr>
              <a:t>随后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70048"/>
            <a:ext cx="2084831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86953"/>
                </a:solidFill>
                <a:latin typeface="Microsoft YaHei UI"/>
              </a:rPr>
              <a:t>可视化理解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75887"/>
            <a:ext cx="2084831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142520"/>
                </a:solidFill>
                <a:latin typeface="Microsoft YaHei UI"/>
              </a:rPr>
              <a:t>函数图像与 Probe 联动
仍由核心状态驱动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15984" y="1828800"/>
            <a:ext cx="2487168" cy="3520440"/>
          </a:xfrm>
          <a:prstGeom prst="rect">
            <a:avLst/>
          </a:prstGeom>
          <a:solidFill>
            <a:srgbClr val="F8F6F0"/>
          </a:solidFill>
          <a:ln w="12700">
            <a:solidFill>
              <a:srgbClr val="DA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2084831"/>
            <a:ext cx="2084831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D9664D"/>
                </a:solidFill>
                <a:latin typeface="Microsoft YaHei UI"/>
              </a:rPr>
              <a:t>远期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670048"/>
            <a:ext cx="2084831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86953"/>
                </a:solidFill>
                <a:latin typeface="Microsoft YaHei UI"/>
              </a:rPr>
              <a:t>可复用 MathCore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3675887"/>
            <a:ext cx="2084831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142520"/>
                </a:solidFill>
                <a:latin typeface="Microsoft YaHei UI"/>
              </a:rPr>
              <a:t>WASM / 独立进程
更多学习场景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5779008"/>
            <a:ext cx="5486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5F6F68"/>
                </a:solidFill>
                <a:latin typeface="Microsoft YaHei UI"/>
              </a:rPr>
              <a:t>当前 onedir：31.2 MB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27432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A4CFBF"/>
                </a:solidFill>
                <a:latin typeface="Microsoft YaHei UI"/>
              </a:rPr>
              <a:t>创作心得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89888"/>
            <a:ext cx="9875520" cy="1353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 UI"/>
              </a:rPr>
              <a:t>AI 可以让解释更亲切，
但数学可信必须来自可验证的程序。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0"/>
            <a:ext cx="8961120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0">
                <a:solidFill>
                  <a:srgbClr val="E4F0EA"/>
                </a:solidFill>
                <a:latin typeface="Microsoft YaHei UI"/>
              </a:rPr>
              <a:t>NeoMath 的价值不在“更快给答案”，而在让学生看见错误是怎样发生的，
并用一个具体值亲手复现它。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70848" y="4462272"/>
            <a:ext cx="2423160" cy="1325880"/>
          </a:xfrm>
          <a:prstGeom prst="rect">
            <a:avLst/>
          </a:prstGeom>
          <a:solidFill>
            <a:srgbClr val="E4F0EA"/>
          </a:solidFill>
          <a:ln w="12700">
            <a:solidFill>
              <a:srgbClr val="E4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90304" y="4736592"/>
            <a:ext cx="1965960" cy="694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0B392E"/>
                </a:solidFill>
                <a:latin typeface="Microsoft YaHei UI"/>
              </a:rPr>
              <a:t>Run → Break
→ Explain → Replay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144768"/>
            <a:ext cx="61264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A4CFBF"/>
                </a:solidFill>
                <a:latin typeface="Microsoft YaHei UI"/>
              </a:rPr>
              <a:t>NeoMath · The Debugger for Mathematics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144768"/>
            <a:ext cx="502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A4CFBF"/>
                </a:solidFill>
                <a:latin typeface="Microsoft YaHei U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NeoMath 作品说明</dc:title>
  <dc:subject>数学动态调试环境 · 阿里云 AI少年 Vibe Coding 创新挑战活动</dc:subject>
  <dc:creator>NeoMath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